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0" b="1">
                <a:solidFill>
                  <a:srgbClr val="2E5CFF"/>
                </a:solidFill>
              </a:defRPr>
            </a:pPr>
            <a:r>
              <a:t>j16z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t>The signal in the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0A0A0"/>
                </a:solidFill>
              </a:defRPr>
            </a:pPr>
            <a:r>
              <a:t>The Deal Desk's Operating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2E5CFF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Merger-arb desks waste hours daily hunting for deal updates across fragmented sources.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291840"/>
            <a:ext cx="73152" cy="640080"/>
          </a:xfrm>
          <a:prstGeom prst="rect">
            <a:avLst/>
          </a:prstGeom>
          <a:solidFill>
            <a:srgbClr val="FF6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42"/>
                </a:solidFill>
              </a:defRPr>
            </a:pPr>
            <a:r>
              <a:t>Labor Drag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795527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1,250+ hours/year of low-leverage data work per desk, worth $150K+ in analyst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73152" cy="640080"/>
          </a:xfrm>
          <a:prstGeom prst="rect">
            <a:avLst/>
          </a:prstGeom>
          <a:solidFill>
            <a:srgbClr val="FF6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42"/>
                </a:solidFill>
              </a:defRPr>
            </a:pPr>
            <a:r>
              <a:t>P&amp;L Drag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795527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Missed dockets and late regulatory news = 50-200 bps of avoidable slippage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8229600" cy="64008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846320"/>
            <a:ext cx="73152" cy="640080"/>
          </a:xfrm>
          <a:prstGeom prst="rect">
            <a:avLst/>
          </a:prstGeom>
          <a:solidFill>
            <a:srgbClr val="FF6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42"/>
                </a:solidFill>
              </a:defRPr>
            </a:pPr>
            <a:r>
              <a:t>Regulatory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795527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Multi-layered FTC/DOJ approval, extended outside dates, heightened scrutiny in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623559"/>
            <a:ext cx="8229600" cy="64008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623559"/>
            <a:ext cx="73152" cy="640080"/>
          </a:xfrm>
          <a:prstGeom prst="rect">
            <a:avLst/>
          </a:prstGeom>
          <a:solidFill>
            <a:srgbClr val="FF6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6B42"/>
                </a:solidFill>
              </a:defRPr>
            </a:pPr>
            <a:r>
              <a:t>Operational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26479"/>
            <a:ext cx="795527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No unified audit trail or single PM view across all active deals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0A0"/>
                </a:solidFill>
              </a:defRPr>
            </a:pPr>
            <a:r>
              <a:t>Information scattered across EDGAR, CourtListener, FTC/DOJ sites, terminals, and spreadsheets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2E5CFF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000">
                <a:solidFill>
                  <a:srgbClr val="FFFFFF"/>
                </a:solidFill>
              </a:defRPr>
            </a:pPr>
            <a:r>
              <a:t>The world has Bloomberg for quotes and AlphaSense for search — but no one has built deal-level intelligence for merger-arb.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474720"/>
            <a:ext cx="7680960" cy="1645920"/>
          </a:xfrm>
          <a:prstGeom prst="rect">
            <a:avLst/>
          </a:prstGeom>
          <a:solidFill>
            <a:srgbClr val="1A1A1A"/>
          </a:solidFill>
          <a:ln w="38100">
            <a:solidFill>
              <a:srgbClr val="2E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7132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800" b="1">
                <a:solidFill>
                  <a:srgbClr val="2E5CFF"/>
                </a:solidFill>
              </a:defRPr>
            </a:pPr>
            <a:r>
              <a:t>"There is no operating system for the deal desk."</a:t>
            </a:r>
          </a:p>
          <a:p>
            <a:br/>
            <a:pPr>
              <a:lnSpc>
                <a:spcPct val="130000"/>
              </a:lnSpc>
              <a:defRPr sz="1300">
                <a:solidFill>
                  <a:srgbClr val="FFFFFF"/>
                </a:solidFill>
              </a:defRPr>
            </a:pPr>
            <a:r>
              <a:t>No system evaluates multiple data sources in real time for clause extraction, litigation monitoring, regulatory tracking, and materiality scoring — all in one unified view per deal.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FFFFFF"/>
                </a:solidFill>
              </a:defRPr>
            </a:pPr>
            <a:r>
              <a:t>Terminals give you market data. Search tools give you documents. We give you deal cards — the atomic unit of work for merger-arb desks.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2E5CFF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j16z transforms fragmented monitoring into a unified, AI-powered deal intelligence platform: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402336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73152" cy="685800"/>
          </a:xfrm>
          <a:prstGeom prst="rect">
            <a:avLst/>
          </a:prstGeom>
          <a:solidFill>
            <a:srgbClr val="2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3756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5CFF"/>
                </a:solidFill>
              </a:defRPr>
            </a:pPr>
            <a:r>
              <a:t>01 | Auto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03320"/>
            <a:ext cx="374904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SEC, CourtListener, FTC/DOJ, spreads polled 24/7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402336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023360"/>
            <a:ext cx="73152" cy="685800"/>
          </a:xfrm>
          <a:prstGeom prst="rect">
            <a:avLst/>
          </a:prstGeom>
          <a:solidFill>
            <a:srgbClr val="2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5CFF"/>
                </a:solidFill>
              </a:defRPr>
            </a:pPr>
            <a:r>
              <a:t>02 | AI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26280"/>
            <a:ext cx="374904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LLMs extract clauses with 95%+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402336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846320"/>
            <a:ext cx="73152" cy="685800"/>
          </a:xfrm>
          <a:prstGeom prst="rect">
            <a:avLst/>
          </a:prstGeom>
          <a:solidFill>
            <a:srgbClr val="2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5CFF"/>
                </a:solidFill>
              </a:defRPr>
            </a:pPr>
            <a:r>
              <a:t>03 | Materiality Scoring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374904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ML models learn which events matter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200400"/>
            <a:ext cx="402336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3200400"/>
            <a:ext cx="73152" cy="685800"/>
          </a:xfrm>
          <a:prstGeom prst="rect">
            <a:avLst/>
          </a:prstGeom>
          <a:solidFill>
            <a:srgbClr val="2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33756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5CFF"/>
                </a:solidFill>
              </a:defRPr>
            </a:pPr>
            <a:r>
              <a:t>04 | Predictive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703320"/>
            <a:ext cx="374904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Predict deal break probability, regulatory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4023360"/>
            <a:ext cx="402336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4023360"/>
            <a:ext cx="73152" cy="685800"/>
          </a:xfrm>
          <a:prstGeom prst="rect">
            <a:avLst/>
          </a:prstGeom>
          <a:solidFill>
            <a:srgbClr val="2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416052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5CFF"/>
                </a:solidFill>
              </a:defRPr>
            </a:pPr>
            <a:r>
              <a:t>05 | Event Stream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526280"/>
            <a:ext cx="374904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Unified timeline with AI materiality scoring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4846320"/>
            <a:ext cx="4023360" cy="68580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63440" y="4846320"/>
            <a:ext cx="73152" cy="685800"/>
          </a:xfrm>
          <a:prstGeom prst="rect">
            <a:avLst/>
          </a:prstGeom>
          <a:solidFill>
            <a:srgbClr val="2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4983480"/>
            <a:ext cx="3749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5CFF"/>
                </a:solidFill>
              </a:defRPr>
            </a:pPr>
            <a:r>
              <a:t>06 | Real-Time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349240"/>
            <a:ext cx="3749040" cy="45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Slack/email/webhooks fire on material events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0A0"/>
                </a:solidFill>
              </a:defRPr>
            </a:pPr>
            <a:r>
              <a:t>From reactive monitoring to proactive risk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2E5CFF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743200"/>
            <a:ext cx="3840480" cy="2011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TAM and Why Now</a:t>
            </a:r>
          </a:p>
          <a:p>
            <a:br/>
            <a:pPr>
              <a:lnSpc>
                <a:spcPct val="140000"/>
              </a:lnSpc>
              <a:defRPr sz="1200">
                <a:solidFill>
                  <a:srgbClr val="FFFFFF"/>
                </a:solidFill>
              </a:defRPr>
            </a:pPr>
            <a:r>
              <a:t>US M&amp;A deal volume is on pace to reach </a:t>
            </a:r>
            <a:r>
              <a:rPr sz="1200" b="1">
                <a:solidFill>
                  <a:srgbClr val="FF6B42"/>
                </a:solidFill>
              </a:rPr>
              <a:t>$2.3T in 2026, up 49% from 2024</a:t>
            </a:r>
          </a:p>
          <a:p>
            <a:pPr>
              <a:lnSpc>
                <a:spcPct val="140000"/>
              </a:lnSpc>
              <a:defRPr sz="1100">
                <a:solidFill>
                  <a:srgbClr val="FFFFFF"/>
                </a:solidFill>
              </a:defRPr>
            </a:pPr>
            <a:r>
              <a:t>, with event-driven strategies delivering 8.2% returns.</a:t>
            </a:r>
            <a:br/>
            <a:br/>
            <a:r>
              <a:t>Target: Hedge funds with 3-15 analysts running merger-arb or event-driven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2743200"/>
            <a:ext cx="4114800" cy="2011680"/>
          </a:xfrm>
          <a:prstGeom prst="rect">
            <a:avLst/>
          </a:prstGeom>
          <a:solidFill>
            <a:srgbClr val="1A1A1A"/>
          </a:solidFill>
          <a:ln w="25400">
            <a:solidFill>
              <a:srgbClr val="FF6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92608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6B42"/>
                </a:solidFill>
              </a:defRPr>
            </a:pPr>
            <a:r>
              <a:t>Why Now: The Perfect Storm</a:t>
            </a:r>
          </a:p>
          <a:p>
            <a:br/>
            <a:pPr>
              <a:lnSpc>
                <a:spcPct val="140000"/>
              </a:lnSpc>
              <a:defRPr sz="1200">
                <a:solidFill>
                  <a:srgbClr val="FFFFFF"/>
                </a:solidFill>
              </a:defRPr>
            </a:pPr>
            <a:r>
              <a:t>Resurgent M&amp;A volumes + heightened regulatory complexity + tooling gap = market ready for deal-level intelligence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2026 projected to grow 9% in deals over $100M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Antitrust scrutiny extending to innovation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79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Terminals and AI search not built for deal-level extraction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2E5CFF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Competitive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926080"/>
            <a:ext cx="384048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0A0A0"/>
                </a:solidFill>
              </a:defRPr>
            </a:pPr>
            <a:r>
              <a:t>Bloomberg/Refinitiv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3566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$20K-$32K/user. Strong on quotes/news, lack AI clause extraction and deal-level intelligence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384048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73152" cy="77724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776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0A0A0"/>
                </a:solidFill>
              </a:defRPr>
            </a:pPr>
            <a:r>
              <a:t>AlphaSense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43400"/>
            <a:ext cx="3566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Company-level search, not deal-specific. Missing litigation monitoring and predictive models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3840480" cy="777240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754880"/>
            <a:ext cx="73152" cy="77724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0A0A0"/>
                </a:solidFill>
              </a:defRPr>
            </a:pPr>
            <a:r>
              <a:t>DIY 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3566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</a:defRPr>
            </a:pPr>
            <a:r>
              <a:t>Brittle, high miss-rate, no ML improvement loop. Can't compete with j16z's training data scale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926080"/>
            <a:ext cx="4114800" cy="3108960"/>
          </a:xfrm>
          <a:prstGeom prst="rect">
            <a:avLst/>
          </a:prstGeom>
          <a:solidFill>
            <a:srgbClr val="1A3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108960"/>
            <a:ext cx="374903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j16z's Competitive Moat</a:t>
            </a:r>
          </a:p>
          <a:p>
            <a:br/>
            <a:pPr>
              <a:defRPr sz="1100" b="1">
                <a:solidFill>
                  <a:srgbClr val="FF6B42"/>
                </a:solidFill>
              </a:defRPr>
            </a:pPr>
            <a:r>
              <a:t>• AI Data Flywheel: </a:t>
            </a:r>
            <a:r>
              <a:rPr sz="1100">
                <a:solidFill>
                  <a:srgbClr val="FFFFFF"/>
                </a:solidFill>
              </a:rPr>
              <a:t>Each deal generates unique training data. More users → better AI → better product</a:t>
            </a:r>
          </a:p>
          <a:p>
            <a:br/>
            <a:pPr>
              <a:defRPr sz="1100" b="1">
                <a:solidFill>
                  <a:srgbClr val="FF6B42"/>
                </a:solidFill>
              </a:defRPr>
            </a:pPr>
            <a:r>
              <a:t>• Deal-Native: </a:t>
            </a:r>
            <a:r>
              <a:rPr sz="1100">
                <a:solidFill>
                  <a:srgbClr val="FFFFFF"/>
                </a:solidFill>
              </a:rPr>
              <a:t>Built from ground up around deal card, not retrofitted</a:t>
            </a:r>
          </a:p>
          <a:p>
            <a:br/>
            <a:pPr>
              <a:defRPr sz="1100" b="1">
                <a:solidFill>
                  <a:srgbClr val="FF6B42"/>
                </a:solidFill>
              </a:defRPr>
            </a:pPr>
            <a:r>
              <a:t>• Value Pricing: </a:t>
            </a:r>
            <a:r>
              <a:rPr sz="1100">
                <a:solidFill>
                  <a:srgbClr val="FFFFFF"/>
                </a:solidFill>
              </a:rPr>
              <a:t>$18K-$24K/analyst undercuts Bloomberg while delivering AI capabilities they don't have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0" b="1">
                <a:solidFill>
                  <a:srgbClr val="2E5CFF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834640"/>
            <a:ext cx="201168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6B42"/>
                </a:solidFill>
              </a:defRPr>
            </a:pPr>
            <a:r>
              <a:t>$3.6M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A0A0A0"/>
                </a:solidFill>
              </a:defRPr>
            </a:pPr>
            <a:r>
              <a:t>ARR potential</a:t>
            </a:r>
            <a:br/>
            <a:r>
              <a:t>(100 desks)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2834640"/>
            <a:ext cx="201168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310896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6B42"/>
                </a:solidFill>
              </a:defRPr>
            </a:pPr>
            <a:r>
              <a:t>1,200+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A0A0A0"/>
                </a:solidFill>
              </a:defRPr>
            </a:pPr>
            <a:r>
              <a:t>Hours saved</a:t>
            </a:r>
            <a:br/>
            <a:r>
              <a:t>annually/desk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834640"/>
            <a:ext cx="201168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310896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6B42"/>
                </a:solidFill>
              </a:defRPr>
            </a:pPr>
            <a:r>
              <a:t>$150K+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59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A0A0A0"/>
                </a:solidFill>
              </a:defRPr>
            </a:pPr>
            <a:r>
              <a:t>Annual savings</a:t>
            </a:r>
            <a:br/>
            <a:r>
              <a:t>per desk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79" y="2834640"/>
            <a:ext cx="2011680" cy="1645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79" y="310896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6B42"/>
                </a:solidFill>
              </a:defRPr>
            </a:pPr>
            <a:r>
              <a:t>$18-24K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19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A0A0A0"/>
                </a:solidFill>
              </a:defRPr>
            </a:pPr>
            <a:r>
              <a:t>Per analyst</a:t>
            </a:r>
            <a:br/>
            <a:r>
              <a:t>annual pricing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402336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SaaS Subscription Model</a:t>
            </a:r>
          </a:p>
          <a:p>
            <a:br/>
            <a:pPr>
              <a:lnSpc>
                <a:spcPct val="140000"/>
              </a:lnSpc>
              <a:defRPr sz="1000">
                <a:solidFill>
                  <a:srgbClr val="FFFFFF"/>
                </a:solidFill>
              </a:defRPr>
            </a:pPr>
            <a:r>
              <a:t>• Boutique: $1.5K-$2K/user/mo (3+ users, ~50 deals)</a:t>
            </a:r>
            <a:br/>
            <a:r>
              <a:t>• Desk: $2K-$3K/user/mo (5+ users, webhooks)</a:t>
            </a:r>
            <a:br/>
            <a:r>
              <a:t>• Enterprise: $100K-$250K/yr (unlimited, SSO)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4754880"/>
            <a:ext cx="402336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4846320"/>
            <a:ext cx="3657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Growth Levers</a:t>
            </a:r>
          </a:p>
          <a:p>
            <a:br/>
            <a:pPr>
              <a:lnSpc>
                <a:spcPct val="140000"/>
              </a:lnSpc>
              <a:defRPr sz="1000">
                <a:solidFill>
                  <a:srgbClr val="FFFFFF"/>
                </a:solidFill>
              </a:defRPr>
            </a:pPr>
            <a:r>
              <a:t>• Land-and-expand: Start one pod, roll out to adjacent</a:t>
            </a:r>
            <a:br/>
            <a:r>
              <a:t>• Geographic: US/UK first, then EU and APAC</a:t>
            </a:r>
            <a:br/>
            <a:r>
              <a:t>• Product: Add probability models, playbooks, memo 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0A0"/>
                </a:solidFill>
              </a:defRPr>
            </a:pPr>
            <a:r>
              <a:t>Payback in under one month from time savings alone; P&amp;L upside makes ROI even stronger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